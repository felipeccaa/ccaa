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61cbb0c9e2473f" /><Relationship Type="http://schemas.openxmlformats.org/officeDocument/2006/relationships/extended-properties" Target="/docProps/app.xml" Id="R96ab75b331e446e8" /><Relationship Type="http://schemas.openxmlformats.org/officeDocument/2006/relationships/officeDocument" Target="/ppt/presentation.xml" Id="R3b1cbc70896443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cef41426364629"/>
  </p:sldMasterIdLst>
  <p:notesMasterIdLst>
    <p:notesMasterId xmlns:r="http://schemas.openxmlformats.org/officeDocument/2006/relationships" r:id="R96d8d273719f4b4c"/>
  </p:notesMasterIdLst>
  <p:sldIdLst>
    <p:sldId xmlns:r="http://schemas.openxmlformats.org/officeDocument/2006/relationships" id="256" r:id="R066468a847a34678"/>
    <p:sldId xmlns:r="http://schemas.openxmlformats.org/officeDocument/2006/relationships" id="257" r:id="Rdd0c03a42a714ce3"/>
    <p:sldId xmlns:r="http://schemas.openxmlformats.org/officeDocument/2006/relationships" id="258" r:id="R0f8039e6d08f4118"/>
    <p:sldId xmlns:r="http://schemas.openxmlformats.org/officeDocument/2006/relationships" id="259" r:id="R2d68d755b89f461c"/>
    <p:sldId xmlns:r="http://schemas.openxmlformats.org/officeDocument/2006/relationships" id="260" r:id="R52f11c4a03994308"/>
    <p:sldId xmlns:r="http://schemas.openxmlformats.org/officeDocument/2006/relationships" id="261" r:id="R8992f8da644e42c7"/>
    <p:sldId xmlns:r="http://schemas.openxmlformats.org/officeDocument/2006/relationships" id="262" r:id="R862983ea474d4046"/>
    <p:sldId xmlns:r="http://schemas.openxmlformats.org/officeDocument/2006/relationships" id="263" r:id="R2e122770cfa4447e"/>
    <p:sldId xmlns:r="http://schemas.openxmlformats.org/officeDocument/2006/relationships" id="264" r:id="Rdffcc60a4d6e4b1e"/>
    <p:sldId xmlns:r="http://schemas.openxmlformats.org/officeDocument/2006/relationships" id="265" r:id="R3300931cd4e34f6a"/>
    <p:sldId xmlns:r="http://schemas.openxmlformats.org/officeDocument/2006/relationships" id="266" r:id="R8ff2ec84dce64f5a"/>
    <p:sldId xmlns:r="http://schemas.openxmlformats.org/officeDocument/2006/relationships" id="267" r:id="R75d361b451e14e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fe9ff49ee841e8" /><Relationship Type="http://schemas.openxmlformats.org/officeDocument/2006/relationships/slideMaster" Target="/ppt/slideMasters/slideMaster1.xml" Id="R59cef41426364629" /><Relationship Type="http://schemas.openxmlformats.org/officeDocument/2006/relationships/notesMaster" Target="/ppt/notesMasters/notesMaster1.xml" Id="R96d8d273719f4b4c" /><Relationship Type="http://schemas.openxmlformats.org/officeDocument/2006/relationships/presProps" Target="/ppt/presProps.xml" Id="Ra5a88b07f6a04711" /><Relationship Type="http://schemas.openxmlformats.org/officeDocument/2006/relationships/tableStyles" Target="/ppt/tableStyles.xml" Id="Rc7f40c52781d4923" /><Relationship Type="http://schemas.openxmlformats.org/officeDocument/2006/relationships/slide" Target="/ppt/slides/slide1.xml" Id="R066468a847a34678" /><Relationship Type="http://schemas.openxmlformats.org/officeDocument/2006/relationships/slide" Target="/ppt/slides/slide2.xml" Id="Rdd0c03a42a714ce3" /><Relationship Type="http://schemas.openxmlformats.org/officeDocument/2006/relationships/slide" Target="/ppt/slides/slide3.xml" Id="R0f8039e6d08f4118" /><Relationship Type="http://schemas.openxmlformats.org/officeDocument/2006/relationships/slide" Target="/ppt/slides/slide4.xml" Id="R2d68d755b89f461c" /><Relationship Type="http://schemas.openxmlformats.org/officeDocument/2006/relationships/slide" Target="/ppt/slides/slide5.xml" Id="R52f11c4a03994308" /><Relationship Type="http://schemas.openxmlformats.org/officeDocument/2006/relationships/slide" Target="/ppt/slides/slide6.xml" Id="R8992f8da644e42c7" /><Relationship Type="http://schemas.openxmlformats.org/officeDocument/2006/relationships/slide" Target="/ppt/slides/slide7.xml" Id="R862983ea474d4046" /><Relationship Type="http://schemas.openxmlformats.org/officeDocument/2006/relationships/slide" Target="/ppt/slides/slide8.xml" Id="R2e122770cfa4447e" /><Relationship Type="http://schemas.openxmlformats.org/officeDocument/2006/relationships/slide" Target="/ppt/slides/slide9.xml" Id="Rdffcc60a4d6e4b1e" /><Relationship Type="http://schemas.openxmlformats.org/officeDocument/2006/relationships/slide" Target="/ppt/slides/slide10.xml" Id="R3300931cd4e34f6a" /><Relationship Type="http://schemas.openxmlformats.org/officeDocument/2006/relationships/slide" Target="/ppt/slides/slide11.xml" Id="R8ff2ec84dce64f5a" /><Relationship Type="http://schemas.openxmlformats.org/officeDocument/2006/relationships/slide" Target="/ppt/slides/slide12.xml" Id="R75d361b451e14e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bd08f15e354f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CAA">
      <a:dk1>
        <a:srgbClr val="000000"/>
      </a:dk1>
      <a:lt1>
        <a:srgbClr val="FFFFFF"/>
      </a:lt1>
      <a:dk2>
        <a:srgbClr val="23332C"/>
      </a:dk2>
      <a:lt2>
        <a:srgbClr val="E7ECE9"/>
      </a:lt2>
      <a:accent1>
        <a:srgbClr val="176B52"/>
      </a:accent1>
      <a:accent2>
        <a:srgbClr val="4D9B73"/>
      </a:accent2>
      <a:accent3>
        <a:srgbClr val="D6A84B"/>
      </a:accent3>
      <a:accent4>
        <a:srgbClr val="B5483A"/>
      </a:accent4>
      <a:accent5>
        <a:srgbClr val="547AA5"/>
      </a:accent5>
      <a:accent6>
        <a:srgbClr val="6B7280"/>
      </a:accent6>
      <a:hlink>
        <a:srgbClr val="176B52"/>
      </a:hlink>
      <a:folHlink>
        <a:srgbClr val="547AA5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CAA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7906aac4524232" /><Relationship Type="http://schemas.openxmlformats.org/officeDocument/2006/relationships/notesMaster" Target="/ppt/notesMasters/notesMaster1.xml" Id="R64f3aab5dc3741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a8e3112f4c450a" /><Relationship Type="http://schemas.openxmlformats.org/officeDocument/2006/relationships/notesMaster" Target="/ppt/notesMasters/notesMaster1.xml" Id="R969fdc63faef4a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27251dbd374d72" /><Relationship Type="http://schemas.openxmlformats.org/officeDocument/2006/relationships/notesMaster" Target="/ppt/notesMasters/notesMaster1.xml" Id="R81957ecb8a7b4e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ec53efd00c4199" /><Relationship Type="http://schemas.openxmlformats.org/officeDocument/2006/relationships/notesMaster" Target="/ppt/notesMasters/notesMaster1.xml" Id="R15ab4eb675f244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23775ab7a54051" /><Relationship Type="http://schemas.openxmlformats.org/officeDocument/2006/relationships/notesMaster" Target="/ppt/notesMasters/notesMaster1.xml" Id="R3087eecaecad4a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b70f7151ca4e5c" /><Relationship Type="http://schemas.openxmlformats.org/officeDocument/2006/relationships/notesMaster" Target="/ppt/notesMasters/notesMaster1.xml" Id="Rf440680c6e6e4c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23122b97524204" /><Relationship Type="http://schemas.openxmlformats.org/officeDocument/2006/relationships/notesMaster" Target="/ppt/notesMasters/notesMaster1.xml" Id="R42dc63e1e81449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0c6bab10f34248" /><Relationship Type="http://schemas.openxmlformats.org/officeDocument/2006/relationships/notesMaster" Target="/ppt/notesMasters/notesMaster1.xml" Id="R39a8a14c54254f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fc0125e0fb4744" /><Relationship Type="http://schemas.openxmlformats.org/officeDocument/2006/relationships/notesMaster" Target="/ppt/notesMasters/notesMaster1.xml" Id="Rc89766fdc685418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c519f5190740fe" /><Relationship Type="http://schemas.openxmlformats.org/officeDocument/2006/relationships/notesMaster" Target="/ppt/notesMasters/notesMaster1.xml" Id="R4aadbcaca97e4f6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9089d0212a4ee0" /><Relationship Type="http://schemas.openxmlformats.org/officeDocument/2006/relationships/notesMaster" Target="/ppt/notesMasters/notesMaster1.xml" Id="R358f4016cea94a9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f62f1fe31d648a5" /><Relationship Type="http://schemas.openxmlformats.org/officeDocument/2006/relationships/notesMaster" Target="/ppt/notesMasters/notesMaster1.xml" Id="Ra40b82497e254e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con el objetivo: entender el sistema y decidir cómo pilotearlo sin prometer una escala no medida.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C:/Users/EQUIPO/Documents/GitHub/CCAA/README.md</a:t>
            </a:r>
          </a:p>
          <a:p xmlns:a="http://schemas.openxmlformats.org/drawingml/2006/main">
            <a:r>
              <a:t>- C:/Users/EQUIPO/Documents/GitHub/CCAA/docs/ARQUITECTURA_FLUJOS_BIZAGI_ESCALABILIDAD.md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Diferenciar cobertura funcional de prueba de carga. La suite completa no finalizó dentro de la ventana local y las pruebas de concurrencia deben ejecutarse con PostgreSQL.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C:/Users/EQUIPO/Documents/GitHub/CCAA/backend</a:t>
            </a:r>
          </a:p>
          <a:p xmlns:a="http://schemas.openxmlformats.org/drawingml/2006/main">
            <a:r>
              <a:t>- C:/Users/EQUIPO/Documents/GitHub/CCAA/frontend/src</a:t>
            </a:r>
          </a:p>
          <a:p xmlns:a="http://schemas.openxmlformats.org/drawingml/2006/main">
            <a:r>
              <a:t>- C:/Users/EQUIPO/Documents/GitHub/CCAA/CLAUDE.md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que el backend es un solo despliegue, pero internamente está separado por módulos. Esa es una decisión adecuada para esta etapa.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C:/Users/EQUIPO/Documents/GitHub/CCAA/vercel.json</a:t>
            </a:r>
          </a:p>
          <a:p xmlns:a="http://schemas.openxmlformats.org/drawingml/2006/main">
            <a:r>
              <a:t>- C:/Users/EQUIPO/Documents/GitHub/CCAA/backend/config/settings.py</a:t>
            </a:r>
          </a:p>
          <a:p xmlns:a="http://schemas.openxmlformats.org/drawingml/2006/main">
            <a:r>
              <a:t>- https://vercel.com/docs/functions/runtimes/python</a:t>
            </a:r>
          </a:p>
          <a:p xmlns:a="http://schemas.openxmlformats.org/drawingml/2006/main">
            <a:r>
              <a:t>- https://neon.com/docs/connect/connection-pooling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diapositiva sirve como nivel 0 antes de entrar a Bizagi.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C:/Users/EQUIPO/Documents/GitHub/CCAA/backend</a:t>
            </a:r>
          </a:p>
          <a:p xmlns:a="http://schemas.openxmlformats.org/drawingml/2006/main">
            <a:r>
              <a:t>- C:/Users/EQUIPO/Documents/GitHub/CCAA/docs/ARQUITECTURA_EVOLUTIVA_ABASTECIMIENTO.md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regla central es que un lote no se despacha sin liberación. Si no cumple Calidad puede existir concesión; una falla de inocuidad no se concesiona.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C:/Users/EQUIPO/Documents/GitHub/CCAA/README.md</a:t>
            </a:r>
          </a:p>
          <a:p xmlns:a="http://schemas.openxmlformats.org/drawingml/2006/main">
            <a:r>
              <a:t>- C:/Users/EQUIPO/Documents/GitHub/CCAA/backend/calidad/dominio.py</a:t>
            </a:r>
          </a:p>
          <a:p xmlns:a="http://schemas.openxmlformats.org/drawingml/2006/main">
            <a:r>
              <a:t>- C:/Users/EQUIPO/Documents/GitHub/CCAA/backend/produccion/dominio.py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Destacar select_for_update: evita firmar contra un checklist o análisis que otra persona modificó durante la decisión.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C:/Users/EQUIPO/Documents/GitHub/CCAA/backend/calidad/views.py</a:t>
            </a:r>
          </a:p>
          <a:p xmlns:a="http://schemas.openxmlformats.org/drawingml/2006/main">
            <a:r>
              <a:t>- C:/Users/EQUIPO/Documents/GitHub/CCAA/backend/calidad/dominio.py</a:t>
            </a:r>
          </a:p>
          <a:p xmlns:a="http://schemas.openxmlformats.org/drawingml/2006/main">
            <a:r>
              <a:t>- https://docs.djangoproject.com/en/6.1/ref/models/querysets/#select-for-update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 Bizagi usar lanes solo cuando realizan al menos una tarea. No usar flujo de secuencia entre pools; allí corresponde flujo de mensaje.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https://help.bizagi.com/platform/en/multiple_pools.htm</a:t>
            </a:r>
          </a:p>
          <a:p xmlns:a="http://schemas.openxmlformats.org/drawingml/2006/main">
            <a:r>
              <a:t>- https://help.bizagi.com/platform/en/best_practices_in_modeling.htm</a:t>
            </a:r>
          </a:p>
          <a:p xmlns:a="http://schemas.openxmlformats.org/drawingml/2006/main">
            <a:r>
              <a:t>- C:/Users/EQUIPO/Documents/GitHub/CCAA/docs/ARQUITECTURA_FLUJOS_BIZAGI_ESCALABILIDAD.md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dar un número de usuarios máximo sin una prueba de carga. Vercel puede escalar funciones y Neon agrupa conexiones, pero la base y las consultas siguen siendo el límite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https://vercel.com/docs/functions/concurrency-scaling</a:t>
            </a:r>
          </a:p>
          <a:p xmlns:a="http://schemas.openxmlformats.org/drawingml/2006/main">
            <a:r>
              <a:t>- https://neon.com/docs/connect/connection-pooling</a:t>
            </a:r>
          </a:p>
          <a:p xmlns:a="http://schemas.openxmlformats.org/drawingml/2006/main">
            <a:r>
              <a:t>- C:/Users/EQUIPO/Documents/GitHub/CCAA/docs/ARQUITECTURA_FLUJOS_BIZAGI_ESCALABILIDAD.md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Mencionar además la rotación pendiente de cualquier credencial que haya sido compartida y la validación de rutas profundas del frontend.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C:/Users/EQUIPO/Documents/GitHub/CCAA/backend/recepcion/views.py</a:t>
            </a:r>
          </a:p>
          <a:p xmlns:a="http://schemas.openxmlformats.org/drawingml/2006/main">
            <a:r>
              <a:t>- C:/Users/EQUIPO/Documents/GitHub/CCAA/backend/inventario/models.py</a:t>
            </a:r>
          </a:p>
          <a:p xmlns:a="http://schemas.openxmlformats.org/drawingml/2006/main">
            <a:r>
              <a:t>- C:/Users/EQUIPO/Documents/GitHub/CCAA/backend/auditoria/registro.py</a:t>
            </a:r>
          </a:p>
          <a:p xmlns:a="http://schemas.openxmlformats.org/drawingml/2006/main">
            <a:r>
              <a:t>- https://vercel.com/docs/storage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prioridad es endurecer el monolito modular. Microservicios solo cuando exista una razón medida de carga, propiedad o despliegue independiente.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C:/Users/EQUIPO/Documents/GitHub/CCAA/docs/ARQUITECTURA_FLUJOS_BIZAGI_ESCALABILIDAD.md</a:t>
            </a:r>
          </a:p>
          <a:p xmlns:a="http://schemas.openxmlformats.org/drawingml/2006/main">
            <a:r>
              <a:t>- https://docs.djangoproject.com/en/6.0/topics/db/transactions/</a:t>
            </a:r>
          </a:p>
          <a:p xmlns:a="http://schemas.openxmlformats.org/drawingml/2006/main">
            <a:r>
              <a:t>- https://vercel.com/docs/storage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plazos son una propuesta de gobernanza, no una estimación contractual. El criterio de salida es evidencia: cero doble movimiento y latencias dentro del objetivo.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C:/Users/EQUIPO/Documents/GitHub/CCAA/docs/ARQUITECTURA_FLUJOS_BIZAGI_ESCALABILIDAD.md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solicitando aprobación del piloto, responsables de los P0 y una fecha para revisar los resultados de carga.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C:/Users/EQUIPO/Documents/GitHub/CCAA/docs/ARQUITECTURA_FLUJOS_BIZAGI_ESCALABILIDAD.md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184a24cdbb43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56a1be6aee4f78" /><Relationship Type="http://schemas.openxmlformats.org/officeDocument/2006/relationships/slideLayout" Target="/ppt/slideLayouts/slideLayout1.xml" Id="Rea35904265a647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35904265a647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CAA">
      <a:dk1>
        <a:srgbClr val="000000"/>
      </a:dk1>
      <a:lt1>
        <a:srgbClr val="FFFFFF"/>
      </a:lt1>
      <a:dk2>
        <a:srgbClr val="23332C"/>
      </a:dk2>
      <a:lt2>
        <a:srgbClr val="E7ECE9"/>
      </a:lt2>
      <a:accent1>
        <a:srgbClr val="176B52"/>
      </a:accent1>
      <a:accent2>
        <a:srgbClr val="4D9B73"/>
      </a:accent2>
      <a:accent3>
        <a:srgbClr val="D6A84B"/>
      </a:accent3>
      <a:accent4>
        <a:srgbClr val="B5483A"/>
      </a:accent4>
      <a:accent5>
        <a:srgbClr val="547AA5"/>
      </a:accent5>
      <a:accent6>
        <a:srgbClr val="6B7280"/>
      </a:accent6>
      <a:hlink>
        <a:srgbClr val="176B52"/>
      </a:hlink>
      <a:folHlink>
        <a:srgbClr val="547AA5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CAA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e56c3fe87b46b4" /><Relationship Type="http://schemas.openxmlformats.org/officeDocument/2006/relationships/image" Target="/ppt/media/image.jpeg" Id="R5c4a1acaf67f4976" /><Relationship Type="http://schemas.openxmlformats.org/officeDocument/2006/relationships/notesSlide" Target="/ppt/notesSlides/notesSlide1.xml" Id="R4f940696ba9549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feef1e6b614075" /><Relationship Type="http://schemas.openxmlformats.org/officeDocument/2006/relationships/notesSlide" Target="/ppt/notesSlides/notesSlide2.xml" Id="R6f0a140ad9cd42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2e7ebe7d67402a" /><Relationship Type="http://schemas.openxmlformats.org/officeDocument/2006/relationships/notesSlide" Target="/ppt/notesSlides/notesSlide3.xml" Id="R2c0e9cd82e9542b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0a82d79a54f1f" /><Relationship Type="http://schemas.openxmlformats.org/officeDocument/2006/relationships/notesSlide" Target="/ppt/notesSlides/notesSlide4.xml" Id="R66a4f2e3795c4c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980f960a8c4431" /><Relationship Type="http://schemas.openxmlformats.org/officeDocument/2006/relationships/notesSlide" Target="/ppt/notesSlides/notesSlide5.xml" Id="R88a8d4f9156c4d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fe068bf584311" /><Relationship Type="http://schemas.openxmlformats.org/officeDocument/2006/relationships/notesSlide" Target="/ppt/notesSlides/notesSlide6.xml" Id="R7697416a547449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2d58e0d1254973" /><Relationship Type="http://schemas.openxmlformats.org/officeDocument/2006/relationships/notesSlide" Target="/ppt/notesSlides/notesSlide7.xml" Id="Rbd5b086c2cdc4d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5b85a39734e39" /><Relationship Type="http://schemas.openxmlformats.org/officeDocument/2006/relationships/notesSlide" Target="/ppt/notesSlides/notesSlide8.xml" Id="R95872ecfe86643e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55d34e6474b08" /><Relationship Type="http://schemas.openxmlformats.org/officeDocument/2006/relationships/notesSlide" Target="/ppt/notesSlides/notesSlide9.xml" Id="Rd9164ccb1b864c7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827f7344d4794" /><Relationship Type="http://schemas.openxmlformats.org/officeDocument/2006/relationships/notesSlide" Target="/ppt/notesSlides/notesSlide10.xml" Id="Red03325874274a9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91fdf5b1e2444f" /><Relationship Type="http://schemas.openxmlformats.org/officeDocument/2006/relationships/notesSlide" Target="/ppt/notesSlides/notesSlide11.xml" Id="R1a9ce843af2a4c8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0fba76a8444e5" /><Relationship Type="http://schemas.openxmlformats.org/officeDocument/2006/relationships/notesSlide" Target="/ppt/notesSlides/notesSlide12.xml" Id="R32312eb073c1419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EC6F3A5-79FC-4977-8024-251BAFE4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B5B75FE-9AB1-4E88-901B-50CBC23B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Arquitectura, procesos y escalabilidad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9FC8F767-BCEA-4ABA-BE88-30DD504A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9" name="Picture-3-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4a1acaf67f4976"/>
          <a:srcRect xmlns:a="http://schemas.openxmlformats.org/drawingml/2006/main" l="22188" t="0" r="221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/>
          </a:prstGeom>
        </p:spPr>
      </p:pic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1CEFFA2A-B6E2-4407-95BD-0FCEC847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Sistema CCAA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 la recepción de leche a la liberación del lote.
Levantamiento técnico y guía BPMN para Bizagi Modeler.</a:t>
            </a:r>
          </a:p>
        </p:txBody>
      </p:sp>
    </p:spTree>
    <p:extLst>
      <p:ext uri="{BB962C8B-B14F-4D97-AF65-F5344CB8AC3E}">
        <p14:creationId xmlns:p14="http://schemas.microsoft.com/office/powerpoint/2010/main" val="43459904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BD8807A2-E4A8-4C46-B257-7BBC746C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1D170CAE-1F93-4F3E-B261-B3D895E2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A4236914-1BB5-4315-A581-C46E9E721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421F1B43-B815-41BE-B2C3-99987004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FFF8716E-6803-4E46-8BB2-1ECC1D65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El sistema ya tiene una base funcional amplia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31017333-C610-4D0E-8529-B17ADA7A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módulos de negocio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5E5DE8B-BAD8-4382-A0D3-56A116C4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métodos de prueba detectados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2D23FF09-E8EE-442C-B2CE-FB32B2F9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modelos Django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33A45F04-C49F-4C03-B8F0-9B264A72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438AF8EB-6C63-41F8-B8F3-C6BE232D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61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B03E727E-E6F2-4F39-A96C-050D9123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566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5FE3215B-5B8C-40C0-AF1C-56F78C13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Evidencia del repositorio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La amplitud funcional es real, pero estas cifras no equivalen a una medición de capacidad simultánea.</a:t>
            </a:r>
          </a:p>
        </p:txBody>
      </p:sp>
    </p:spTree>
    <p:extLst>
      <p:ext uri="{BB962C8B-B14F-4D97-AF65-F5344CB8AC3E}">
        <p14:creationId xmlns:p14="http://schemas.microsoft.com/office/powerpoint/2010/main" val="60696205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AC234F8-7C10-415B-A592-3D53007B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C5973FC-EE92-4301-999E-2B7B2D68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Arquitectura actual: monolito modular y desplegable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8FCFC473-C391-4383-9D4C-DD9B8A3E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2CBCCCC4-73F3-411D-82FA-F5136F41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Vercel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Frontend estático y Django como función Python.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5AC1D521-FA64-459E-B351-C099BDD2C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2DBAD227-FF74-461A-9921-AD8CABA2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React + Vite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Interfaz, rutas y consumo de la API.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0E1B2609-C9B2-4AF5-BC91-E902BC74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2DF02AC4-0937-48C5-AC2C-77D75BF9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8348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Neon PostgreSQL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Persistencia, restricciones, locks y pooler.</a:t>
            </a:r>
          </a:p>
        </p:txBody>
      </p:sp>
      <p:sp>
        <p:nvSpPr>
          <p:cNvPr id="9" name="Rounded-Rectangle-3-10">
            <a:extLst xmlns:a="http://schemas.openxmlformats.org/drawingml/2006/main">
              <a:ext uri="{FF2B5EF4-FFF2-40B4-BE49-F238E27FC236}">
                <a16:creationId xmlns:a16="http://schemas.microsoft.com/office/drawing/2014/main" id="{7A7A4D15-C73A-4DD6-9D8D-9839FBE3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0586A717-FF13-44CC-9B04-39D323430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Django + DRF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Permisos, reglas, transacciones y API REST.</a:t>
            </a:r>
          </a:p>
        </p:txBody>
      </p:sp>
      <p:sp>
        <p:nvSpPr>
          <p:cNvPr id="11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46657D1E-05CB-43F8-A552-66755472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Cuatro contenedores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La solución escala por instancias sin dividir prematuramente el dominio.</a:t>
            </a:r>
          </a:p>
        </p:txBody>
      </p:sp>
    </p:spTree>
    <p:extLst>
      <p:ext uri="{BB962C8B-B14F-4D97-AF65-F5344CB8AC3E}">
        <p14:creationId xmlns:p14="http://schemas.microsoft.com/office/powerpoint/2010/main" val="100539188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2461819-6100-45A0-BD31-05ED6722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F6DBE94-5A68-406A-8273-CF3E0DD0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Tres cadenas de valor comparten una sola verdad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950B37A4-B84E-46AD-985E-384EBA80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20F3E982-0789-4DFD-9136-22AC2CDB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17BD088C-E463-4DE5-8B40-77C989BF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Abastecimiento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Comprar → Inspeccionar → Almacenar → Reservar FEFO → Entregar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F2DC87FB-FDD0-471C-B3B1-3145F901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Gobierno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Roles → Maestros → Auditoría → Indicadores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F3C04ACB-7FAD-4696-A725-8676EAE1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A3261247-6E5A-4D7C-9EA7-CB9BD3CB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C06079A1-66F5-4F59-B359-FC120D9B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33643B29-8059-4989-830A-DF9B24B8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Flujo productivo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Planificar → Recibir → Producir → Controlar → Liberar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ECAC8FDC-81E4-484A-B56D-F3AB0C52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201ACE05-9289-4331-B7AD-19FDBEF8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Mapa funcional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Maestros y usuarios gobiernan el contexto; PostgreSQL conserva el estado;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Auditoría observa los cambios.</a:t>
            </a:r>
          </a:p>
        </p:txBody>
      </p:sp>
    </p:spTree>
    <p:extLst>
      <p:ext uri="{BB962C8B-B14F-4D97-AF65-F5344CB8AC3E}">
        <p14:creationId xmlns:p14="http://schemas.microsoft.com/office/powerpoint/2010/main" val="31353551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CA4DF68-145B-4DAB-A674-94171667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7E35D34F-3760-4F26-A221-9D7E16ED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Flujo extremo a extremo: del plan al lote liberado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1EE6358B-A032-407D-9A3E-12413FFC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40CC9EDB-6284-4C3C-869F-F9ABD396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4FB633DE-111B-456C-A8A3-E2AF7E0A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B6EF5BED-9670-46C2-AC2A-8204BFD1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68F46237-B04B-486A-8EC7-84287EA6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Preparar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Mantener maestros, crear semana, programar equipos y validar balance.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33BB4CA3-B550-4AA9-96DD-3C8573D9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F6C9DC36-FE9E-4493-B7CC-234EC9D4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Ejecutar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Recibir leche, descargar a silo, abrir lote y registrar corrida/controles.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FD7CADCF-085D-4FE0-A856-375D42A1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C4709FC4-24C8-41E9-9DA0-330D4F5B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Decidir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Completar dossier, evaluar análisis e inocuidad y firmar o bloquear.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71CCD67E-DE9A-47EF-A543-8F1728CD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Producir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E069A9A9-D061-4078-A8D5-5FB78869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Planificar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6B898987-521D-40EA-8C63-046E0B2F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Liberar</a:t>
            </a:r>
          </a:p>
        </p:txBody>
      </p:sp>
    </p:spTree>
    <p:extLst>
      <p:ext uri="{BB962C8B-B14F-4D97-AF65-F5344CB8AC3E}">
        <p14:creationId xmlns:p14="http://schemas.microsoft.com/office/powerpoint/2010/main" val="17683116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66996AC-A71C-47E6-976C-5FBE71BD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6715BF9A-6A10-43E6-811D-C96BD78D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Calidad decide con datos vivos, no con un resultado congelado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3EED5D4F-0427-4F63-92DA-0357A769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CDCD417A-A9F0-43B1-8FFD-C21927E9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Liberación normal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154A452C-1884-4B46-8DDD-B1996807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Dossier completo
Calidad conforme
Sin bloqueo PCC/PPRO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6D0D4AA1-96C8-4E7D-BBB7-60C89E9B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9B51C1E4-E185-4521-B37A-DBC9F419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Concesión controlada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3522FD98-9FD4-4CD4-9579-F21CBF4C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Solo desviación de calidad
Motivo escrito
Autorizador identificado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EF57FE69-233B-4EF0-B385-36721C09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Control crítico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La firma vuelve a calcular la decisión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y bloquea las filas leídas hasta guardar.</a:t>
            </a:r>
          </a:p>
        </p:txBody>
      </p:sp>
    </p:spTree>
    <p:extLst>
      <p:ext uri="{BB962C8B-B14F-4D97-AF65-F5344CB8AC3E}">
        <p14:creationId xmlns:p14="http://schemas.microsoft.com/office/powerpoint/2010/main" val="75105706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F2CBB61-DBE4-41E9-A9D0-6D16560F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33C329D-0705-4F73-A28E-C91D87F3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Bizagi: modelar por niveles, no todo en un lienzo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96E90CF5-3933-476E-8602-6C773D1C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D4765A0E-0EA8-48BC-9C20-644F7C8CE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Nivel 1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Recepción, planificación, producción, calidad, inventario y auditoría.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507BB20C-BBEF-4BAA-B70E-1E8A6756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C8CE6CC7-B9E0-4BDB-A69A-B384F5FB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Nivel 0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Macroproceso: gestionar producción y liberación.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E738B6D1-7509-4824-B42B-E6BBAE57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F7A2D31B-6E7B-40F5-90AD-009B7319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Regla BPMN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Secuencia dentro del pool; mensajes entre pools; gateways como preguntas.</a:t>
            </a:r>
          </a:p>
        </p:txBody>
      </p:sp>
      <p:sp>
        <p:nvSpPr>
          <p:cNvPr id="9" name="Rounded-Rectangle-3-10">
            <a:extLst xmlns:a="http://schemas.openxmlformats.org/drawingml/2006/main">
              <a:ext uri="{FF2B5EF4-FFF2-40B4-BE49-F238E27FC236}">
                <a16:creationId xmlns:a16="http://schemas.microsoft.com/office/drawing/2014/main" id="{1DDBA7FA-41E6-4F22-91B7-1A50374E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133491A0-1315-4F27-B8A7-16A37C65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Nivel 2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Excepciones críticas: retención, concesión, FEFO y doble aprobación.</a:t>
            </a:r>
          </a:p>
        </p:txBody>
      </p:sp>
      <p:sp>
        <p:nvSpPr>
          <p:cNvPr id="11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1EE27855-F0E1-4C02-B7D6-F9AEFE69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Estructura recomendada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 pool CCAA con lanes por responsables; pools externos solo para participantes independientes.</a:t>
            </a:r>
          </a:p>
        </p:txBody>
      </p:sp>
    </p:spTree>
    <p:extLst>
      <p:ext uri="{BB962C8B-B14F-4D97-AF65-F5344CB8AC3E}">
        <p14:creationId xmlns:p14="http://schemas.microsoft.com/office/powerpoint/2010/main" val="108271463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A05C91D3-7EAE-4EB7-8522-87CB0869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C7C3F21A-D1DE-4990-80B0-C47F7170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987F8718-F42E-425D-9FBC-96F3F499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B9546E80-C26A-4DA6-A5CB-6A3F7484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4E57F25E-A6E5-4B0B-A1A2-25970DBF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Escalabilidad: buena base, capacidad aún no demostrada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1482B5A8-FCA6-4A87-8E25-8E46FD05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piloto y pruebas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45A869C-FD4E-4DA2-B0ED-63C8CA696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prometer alta carga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BAAA28CA-C863-4B3C-BE6D-0A0CEAAB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crecer sin reescribir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431EDCFC-5332-42C8-A99C-989B3138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SÍ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72283337-AB80-40BE-B8C9-E1567374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SÍ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C2705036-8421-4FD2-9582-603EA62E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AÚN NO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605817EC-D88B-490F-A954-07A0AD58F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Dictamen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Apto para demostración y piloto controlado. Antes de alta concurrencia hay que cerrar riesgos y medir.</a:t>
            </a:r>
          </a:p>
        </p:txBody>
      </p:sp>
    </p:spTree>
    <p:extLst>
      <p:ext uri="{BB962C8B-B14F-4D97-AF65-F5344CB8AC3E}">
        <p14:creationId xmlns:p14="http://schemas.microsoft.com/office/powerpoint/2010/main" val="154650326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4B8D23B4-DAE8-4B2F-A0DB-26D38FD0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855F9C4-550E-4BFE-A64D-F2F4A4AD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Los riesgos principales están concentrados y son corregibles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654B5B5E-B9B0-4341-B766-5E97A05F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CA1C7AFF-3DF9-4ADB-832B-6BEF1210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27434347-454E-4A90-A612-EF35D4E2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Crecimiento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Histórico en memoria
Expedientes sin paginar
Alertas costosas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924199D9-3B8E-4209-B49F-3ED2D9B7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Operación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Adjuntos locales
Inventario sin auditoría
Correo/monitoreo pendientes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FDEACAC1-6076-48C8-ACD3-3471EF01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538B5E57-7048-4668-942B-7E01C461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DC05C9E3-D129-444D-A1FD-BF81BD1E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89154DC8-DC39-4FCB-9B05-EC53AD041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Concurrencia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Doble descarga
Correlativo simultáneo
Consumo de silo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3C89106D-B793-49F7-915E-9871F395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FEB99D2F-F307-4944-85CE-8DF6CB7E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Antes de operación real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El problema no es el monolito: son rutas críticas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 protección desigual y operación todavía manual.</a:t>
            </a:r>
          </a:p>
        </p:txBody>
      </p:sp>
    </p:spTree>
    <p:extLst>
      <p:ext uri="{BB962C8B-B14F-4D97-AF65-F5344CB8AC3E}">
        <p14:creationId xmlns:p14="http://schemas.microsoft.com/office/powerpoint/2010/main" val="71903857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A57D960-5658-4744-AF18-E83B44CF2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3F876E0C-A14D-4287-BC26-64793A9E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El endurecimiento se puede ejecutar sin rehacer el sistema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0AE3E11E-8097-4F8F-A0B0-44521106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D29F0006-EBE2-400C-B58B-DB42B6B3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Datos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Agregaciones SQL, paginación, índices y planes de consulta.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20BB62F8-66DB-4354-80D4-74FB1760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C4A6C0EC-1F51-4209-9936-23BF2DFF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Integridad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Idempotencia, locks de recepción/silos y restricciones por origen.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A3FA948E-36FD-4DF3-ACC0-4D783422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38C58BAA-A7A6-49AC-A8CF-FACF857E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Plataforma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Blob/S3 para adjuntos; evaluar contenedores si aparecen workers largos.</a:t>
            </a:r>
          </a:p>
        </p:txBody>
      </p:sp>
      <p:sp>
        <p:nvSpPr>
          <p:cNvPr id="9" name="Rounded-Rectangle-3-10">
            <a:extLst xmlns:a="http://schemas.openxmlformats.org/drawingml/2006/main">
              <a:ext uri="{FF2B5EF4-FFF2-40B4-BE49-F238E27FC236}">
                <a16:creationId xmlns:a16="http://schemas.microsoft.com/office/drawing/2014/main" id="{4325C490-A754-443A-9BE8-9301CBBF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A6BE3209-BFF7-40A8-A678-3039B37A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Operación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Backups restaurados, migraciones controladas, logs/APM y correo real.</a:t>
            </a:r>
          </a:p>
        </p:txBody>
      </p:sp>
      <p:sp>
        <p:nvSpPr>
          <p:cNvPr id="11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8EB610D4-DE1D-4D50-A90A-E94544A3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P0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Cerrar integridad, continuidad y observabilidad antes de ampliar el uso.</a:t>
            </a:r>
          </a:p>
        </p:txBody>
      </p:sp>
    </p:spTree>
    <p:extLst>
      <p:ext uri="{BB962C8B-B14F-4D97-AF65-F5344CB8AC3E}">
        <p14:creationId xmlns:p14="http://schemas.microsoft.com/office/powerpoint/2010/main" val="57260996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F9463BF1-9058-46C4-B1D3-46507172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8147067B-DD87-40D7-B545-65DA86B5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Ruta propuesta: proteger, medir y recién después ampliar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43787CC0-8813-4D72-810D-77504094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B0416C06-1FAC-49E8-A2AA-ABBB0DCF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E3B3DBFD-5D66-401E-A6EF-85044D46B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9FCC278A-CF04-4774-BDA1-36D27F58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5D091D3E-CD8E-4C2D-9FFB-FE6B85BA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P0 · 1 sprint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Credenciales, locks/idempotencia, adjuntos, auditoría, consultas críticas y observabilidad.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318F5900-3425-42F5-8B0B-53E9FE78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C950C5CF-C9D6-4E7A-8571-970D557B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Piloto · 2–4 semanas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 usuarios concurrentes, datos de prueba, runbook, respaldo y soporte cercano.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12A2E73B-8729-4C85-82C0-7F9CD042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89BC56CE-C717-4C77-BEFC-B06489E66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Escala · según evidencia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Optimizar P1, repetir carga, subir plan o migrar runtime si las métricas lo exigen.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0F8611FF-38A3-41AE-BAD6-456A1A3A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Medir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8CBF6360-089E-43F0-8D62-B2B2C26A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Proteger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E2727F34-756F-4AF0-BDB5-4C5CEC82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Ampliar</a:t>
            </a:r>
          </a:p>
        </p:txBody>
      </p:sp>
    </p:spTree>
    <p:extLst>
      <p:ext uri="{BB962C8B-B14F-4D97-AF65-F5344CB8AC3E}">
        <p14:creationId xmlns:p14="http://schemas.microsoft.com/office/powerpoint/2010/main" val="143015673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5CD5CCA0-2C13-48EC-A933-CCEB5BDB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Piloto controlado
con endurecimiento P0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5B57DC7-B9F4-481E-B405-BA7A4DB7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Base técnica adecuada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P0 claros y acotados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Escala con evidencia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10D231F5-27EE-4EAB-BB60-3460D674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DECISIÓN PROPUESTA</a:t>
            </a:r>
          </a:p>
        </p:txBody>
      </p:sp>
    </p:spTree>
    <p:extLst>
      <p:ext uri="{BB962C8B-B14F-4D97-AF65-F5344CB8AC3E}">
        <p14:creationId xmlns:p14="http://schemas.microsoft.com/office/powerpoint/2010/main" val="468515289"/>
      </p:ext>
    </p:extLst>
  </p:cSld>
</p:sld>
</file>

<file path=ppt/theme/theme1.xml><?xml version="1.0" encoding="utf-8"?>
<a:theme xmlns:a="http://schemas.openxmlformats.org/drawingml/2006/main" name="ChatGPT">
  <a:themeElements>
    <a:clrScheme name="CCAA">
      <a:dk1>
        <a:srgbClr val="000000"/>
      </a:dk1>
      <a:lt1>
        <a:srgbClr val="FFFFFF"/>
      </a:lt1>
      <a:dk2>
        <a:srgbClr val="23332C"/>
      </a:dk2>
      <a:lt2>
        <a:srgbClr val="E7ECE9"/>
      </a:lt2>
      <a:accent1>
        <a:srgbClr val="176B52"/>
      </a:accent1>
      <a:accent2>
        <a:srgbClr val="4D9B73"/>
      </a:accent2>
      <a:accent3>
        <a:srgbClr val="D6A84B"/>
      </a:accent3>
      <a:accent4>
        <a:srgbClr val="B5483A"/>
      </a:accent4>
      <a:accent5>
        <a:srgbClr val="547AA5"/>
      </a:accent5>
      <a:accent6>
        <a:srgbClr val="6B7280"/>
      </a:accent6>
      <a:hlink>
        <a:srgbClr val="176B52"/>
      </a:hlink>
      <a:folHlink>
        <a:srgbClr val="547AA5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CAA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2026-08-04T14:15:53.4660000Z</dcterms:created>
  <dcterms:modified xsi:type="dcterms:W3CDTF">2026-08-04T14:15:53.4660000Z</dcterms:modified>
</coreProperties>
</file>